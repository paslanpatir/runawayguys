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elin\Documents\RedFlagListStudy\init%20data%20ger&#231;ek%20skorlamalar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[init data gerçek skorlamalar.xlsx]Sheet2!PivotTable2</c:name>
    <c:fmtId val="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Gerçek skorlamalar (5 kişi)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Sheet2!$G$7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Sheet2!$F$8:$F$19</c:f>
              <c:strCache>
                <c:ptCount val="1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10</c:v>
                </c:pt>
                <c:pt idx="10">
                  <c:v>(blank)</c:v>
                </c:pt>
              </c:strCache>
            </c:strRef>
          </c:cat>
          <c:val>
            <c:numRef>
              <c:f>Sheet2!$G$8:$G$19</c:f>
              <c:numCache>
                <c:formatCode>General</c:formatCode>
                <c:ptCount val="11"/>
                <c:pt idx="0">
                  <c:v>238</c:v>
                </c:pt>
                <c:pt idx="1">
                  <c:v>4</c:v>
                </c:pt>
                <c:pt idx="2">
                  <c:v>12</c:v>
                </c:pt>
                <c:pt idx="3">
                  <c:v>15</c:v>
                </c:pt>
                <c:pt idx="4">
                  <c:v>8</c:v>
                </c:pt>
                <c:pt idx="5">
                  <c:v>5</c:v>
                </c:pt>
                <c:pt idx="6">
                  <c:v>10</c:v>
                </c:pt>
                <c:pt idx="7">
                  <c:v>56</c:v>
                </c:pt>
                <c:pt idx="8">
                  <c:v>10</c:v>
                </c:pt>
                <c:pt idx="9">
                  <c:v>8</c:v>
                </c:pt>
                <c:pt idx="10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6CD-4ABE-830B-5CBF99D59A4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52378656"/>
        <c:axId val="1252379136"/>
      </c:barChart>
      <c:catAx>
        <c:axId val="12523786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52379136"/>
        <c:crosses val="autoZero"/>
        <c:auto val="1"/>
        <c:lblAlgn val="ctr"/>
        <c:lblOffset val="100"/>
        <c:noMultiLvlLbl val="0"/>
      </c:catAx>
      <c:valAx>
        <c:axId val="12523791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523786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16855-BE1A-B128-A516-A0455ED0B3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7A0617-F50B-B14E-234A-CE6DF0B3EA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2566BD-50BD-407F-B97D-81D9A030E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EC84C-7DCB-4587-94F3-EE3472187C59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27A24C-890F-583B-4FAA-59F4D5BD5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5DAEDD-4A65-591F-FA15-37963C6DA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61049-F770-484B-AFFF-03DB2FBC36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424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3BEF5-BD32-A7FC-7493-4550BBF01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F617C7-4DC5-904D-E5B6-A4A6F94D1C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063DD-5CA6-F33A-C922-DA39A28D2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EC84C-7DCB-4587-94F3-EE3472187C59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F3DA12-C49D-1B69-E323-83D346096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DC87A1-BD49-8B69-3A74-CB79D0C99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61049-F770-484B-AFFF-03DB2FBC36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504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A4B56-7FD5-4686-49A7-C70073D2E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87DD0E-0FC1-5FB8-8686-2B59A02147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04AA85-EBF3-9D9A-E092-413A3F0ED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EC84C-7DCB-4587-94F3-EE3472187C59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9F9FD9-54B2-2C28-1915-FD183DEDF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1220A3-6F37-04AB-E9C9-37C6B0EBB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61049-F770-484B-AFFF-03DB2FBC36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031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BB017-63DA-79E7-71D2-88FA41F85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2D6AC8-8870-DA2E-2734-BB1A251D9B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0EFC50-CB06-96F8-EDE0-3B73877BDC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5964B0-4696-103C-5A82-DCB1857C4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EC84C-7DCB-4587-94F3-EE3472187C59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B1F85D-E230-2A8F-BC22-6FE35CB9F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209C45-1808-07F4-F80C-618522B0C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61049-F770-484B-AFFF-03DB2FBC36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7804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DF3FB-7262-1D46-6F2C-4510F405C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A9B040-A633-0E45-EB76-729071AA27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FF5A4F-459A-1E14-252D-94C1969298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938F61-67B0-8D7B-A6A7-E81E9E382B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476E49-486E-47EB-2985-D2026CA02B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E36C22-B734-6865-A83D-4F52319A1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EC84C-7DCB-4587-94F3-EE3472187C59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B1D0DD-2547-022A-BBD8-E72B47820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53CE83-3A86-676F-F0FA-4CF775D5C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61049-F770-484B-AFFF-03DB2FBC36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589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CF3A1-D774-5908-7D1C-2C478CEEC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929A64-2A6A-5881-CDF0-00ABA5352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EC84C-7DCB-4587-94F3-EE3472187C59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CEDAAA-7318-E9F3-41A8-0442EB385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594F8F-5B79-EBB6-2095-6C0AD0DF0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61049-F770-484B-AFFF-03DB2FBC36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301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0A182F-1E75-7C1E-F5B1-4F1233455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EC84C-7DCB-4587-94F3-EE3472187C59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E59B30-62AD-7F2C-EF1B-1B7E97DAC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A903BA-08CE-D55C-FED9-F074A00B5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61049-F770-484B-AFFF-03DB2FBC36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615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162C3-4B00-CBA1-6096-B7ABDB421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2701B9-4B23-3E91-42BC-D4FF84EAF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FCC036-CC2C-8C6C-9ABF-6C45F4B7D5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DA4A1C-1939-9B4E-E0BE-92F79B8D9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EC84C-7DCB-4587-94F3-EE3472187C59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2EE72E-F90E-C3C5-DF38-3F8672895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2081BF-82BF-485E-8CC1-C985D8532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61049-F770-484B-AFFF-03DB2FBC36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368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10BD3-7A9B-F79A-5173-D0A0E1C6B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DE1396-47A8-855D-5854-EAF785315A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AB7FAF-21AF-63DD-D09E-0EA40B868B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3299A9-E393-0542-56BB-DABBEC0C2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EC84C-7DCB-4587-94F3-EE3472187C59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85155B-C6D2-354F-34C9-364705F4E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6B39D9-5C3D-8310-96A0-EF48AE3AA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61049-F770-484B-AFFF-03DB2FBC36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97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8E5F9-E400-897F-5B49-19E9B243C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ED6AB0-49C1-AD11-7EB8-459B97621D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B15A02-B6EE-B07F-E221-21416F245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EC84C-7DCB-4587-94F3-EE3472187C59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362D4-1609-B23C-C45C-06B431D78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8FF925-790C-73EC-123D-B14B47E42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61049-F770-484B-AFFF-03DB2FBC36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565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547B98-C0A0-45E7-1E52-6D9D13D7FC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2198CD-6DE6-73DF-51FD-8FD79E516E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392F90-1900-41CB-9215-0B017C5C9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EC84C-7DCB-4587-94F3-EE3472187C59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2BFAF7-30C2-E574-F9D7-8328B8C38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8F090-3E90-930A-8222-2AC47FD3B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61049-F770-484B-AFFF-03DB2FBC36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087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4C9C41-AE2A-A3AD-6743-5DF9CD773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1FFD1D-14B1-0764-4BB2-9C02DADCBB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EB2B69-1D45-B556-3F07-9465615BEA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EC84C-7DCB-4587-94F3-EE3472187C59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1F07D-375D-ACB4-AE4B-2F5EFD2B0F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C5341D-7E84-7720-124F-ADE1C33149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F61049-F770-484B-AFFF-03DB2FBC36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348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4C73D-E737-5EF8-7083-0955319B6B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RedFlag</a:t>
            </a:r>
            <a:r>
              <a:rPr lang="en-US" dirty="0"/>
              <a:t>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990BB3-8FA7-D059-79AE-FC678649A95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074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933AF-2567-C924-DD93-8E8C2ED99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 – ask language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965D836-4328-ECFA-2849-F0C5DFBAF5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8447" y="1690688"/>
            <a:ext cx="5483761" cy="315277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BD69BFB-095A-05DC-2A76-9B5AC14876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2362" y="1864861"/>
            <a:ext cx="6011438" cy="3476624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ACD2528-6341-19F2-E35D-8D9EF6F581E6}"/>
              </a:ext>
            </a:extLst>
          </p:cNvPr>
          <p:cNvSpPr txBox="1">
            <a:spLocks/>
          </p:cNvSpPr>
          <p:nvPr/>
        </p:nvSpPr>
        <p:spPr>
          <a:xfrm>
            <a:off x="838200" y="4644571"/>
            <a:ext cx="10515600" cy="15323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Language selection changes the language in button too.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24C14E6-67DE-A4EA-2C25-4E3605AD7078}"/>
              </a:ext>
            </a:extLst>
          </p:cNvPr>
          <p:cNvCxnSpPr/>
          <p:nvPr/>
        </p:nvCxnSpPr>
        <p:spPr>
          <a:xfrm flipH="1" flipV="1">
            <a:off x="6589486" y="3831771"/>
            <a:ext cx="420914" cy="3483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93BF4C7-F369-1BFE-429A-B095A49E9B94}"/>
              </a:ext>
            </a:extLst>
          </p:cNvPr>
          <p:cNvCxnSpPr/>
          <p:nvPr/>
        </p:nvCxnSpPr>
        <p:spPr>
          <a:xfrm flipH="1" flipV="1">
            <a:off x="1415143" y="3773714"/>
            <a:ext cx="420914" cy="3483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85082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01D73-D3FE-4E0C-1D27-C6A1C7F82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 – user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9AE22-38F1-FC10-AFA5-2180F0C409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9314" y="4963885"/>
            <a:ext cx="8494486" cy="1213077"/>
          </a:xfrm>
        </p:spPr>
        <p:txBody>
          <a:bodyPr/>
          <a:lstStyle/>
          <a:p>
            <a:r>
              <a:rPr lang="en-US" dirty="0" err="1"/>
              <a:t>fe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65561F-1C2B-0600-3B81-D1C3DF58CD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228" y="1479393"/>
            <a:ext cx="6058044" cy="29773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5414138-F594-4EFF-26D6-62799A5685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7272" y="202011"/>
            <a:ext cx="5042381" cy="29773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34066CC-C43D-E673-717A-6A7308830A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7272" y="3233936"/>
            <a:ext cx="5456169" cy="2656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015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2C926-FD21-F44D-2605-26D3E8F04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66C07-72B9-0AD6-7A05-7C88B4115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 – user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A329FA-9270-0D0F-39D4-9187C369F7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9314" y="4963885"/>
            <a:ext cx="8494486" cy="1213077"/>
          </a:xfrm>
        </p:spPr>
        <p:txBody>
          <a:bodyPr/>
          <a:lstStyle/>
          <a:p>
            <a:r>
              <a:rPr lang="en-US" dirty="0" err="1"/>
              <a:t>fe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D28CE7-E511-E337-A35A-353851CC50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316" y="1278193"/>
            <a:ext cx="5694103" cy="282071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68B0E06-58AA-C89D-BB1E-F071E31DFF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1419" y="180783"/>
            <a:ext cx="5456169" cy="314650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3774B27-8A4D-D25E-A4D2-B84DE0F479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3679" y="3277199"/>
            <a:ext cx="5101006" cy="302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773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E8B63-4DA1-638D-4A6D-894ACDCD8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3- boyfriend name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10D17-C7FD-BEA0-A237-268ADBB606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3600" y="4354285"/>
            <a:ext cx="6680200" cy="1822677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33EB09-F5AE-7A6A-CFEF-2C0A37DF54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99892"/>
            <a:ext cx="6297505" cy="27657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5F2F5F-2419-6B87-B52D-1597C8D635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6441" y="3954290"/>
            <a:ext cx="5042759" cy="2492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0827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DC46B-C48B-FEB2-6948-94D69D5EB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CFCDA-5FA2-ADF6-1D52-62C1724B7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4- welcome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CDEDC1-84A8-64EA-F37F-E6F046B754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3600" y="4354285"/>
            <a:ext cx="6680200" cy="1822677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6A8DD2-30A3-C777-5C40-4568D00BC4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105" y="1314155"/>
            <a:ext cx="6340009" cy="2800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2167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6A115-F83E-89F5-3311-A6A39C2B8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E20B1-2105-F753-04DF-B30FE1E64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5- Filter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6FE979-D0E0-D4CF-A07B-13AB68FFA4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30192" y="4354285"/>
            <a:ext cx="4423608" cy="1822677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258EDD-135B-5F71-F164-27A472A010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453" y="1262742"/>
            <a:ext cx="6197739" cy="4470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6826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BD901-E2E4-FA6A-8011-1183FE11C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C0175-71A1-88EC-FB5E-2532192C4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6- </a:t>
            </a:r>
            <a:r>
              <a:rPr lang="en-US" dirty="0" err="1"/>
              <a:t>RedFlag</a:t>
            </a:r>
            <a:r>
              <a:rPr lang="en-US" dirty="0"/>
              <a:t>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91D631-BE80-2ABE-3EE6-68B03D9A8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6066971"/>
            <a:ext cx="10325808" cy="425904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/>
              <a:t>Geçerli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  <a:r>
              <a:rPr lang="en-US" dirty="0" err="1"/>
              <a:t>seçildiğinde</a:t>
            </a:r>
            <a:r>
              <a:rPr lang="en-US" dirty="0"/>
              <a:t> </a:t>
            </a:r>
            <a:r>
              <a:rPr lang="en-US" dirty="0" err="1"/>
              <a:t>opsiyonlar</a:t>
            </a:r>
            <a:r>
              <a:rPr lang="en-US" dirty="0"/>
              <a:t> </a:t>
            </a:r>
            <a:r>
              <a:rPr lang="en-US" dirty="0" err="1"/>
              <a:t>kaybolur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EEBD23-B386-1B47-A1D8-6E00B4249F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1425112"/>
            <a:ext cx="5712407" cy="42935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CC11C5F-C8B7-6EA0-578A-4D35AD2CE5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4911" y="1364345"/>
            <a:ext cx="5594169" cy="4354285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369217C-C998-6E8C-0E83-A8F39350BE6C}"/>
              </a:ext>
            </a:extLst>
          </p:cNvPr>
          <p:cNvCxnSpPr/>
          <p:nvPr/>
        </p:nvCxnSpPr>
        <p:spPr>
          <a:xfrm flipH="1">
            <a:off x="10522857" y="1425112"/>
            <a:ext cx="1291772" cy="13255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5711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0C2FE-18FC-2ACD-52DA-DB338EA2B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7- Get to Know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D65D1D-AED6-28EC-B8EE-09230679C1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31314" y="3860799"/>
            <a:ext cx="3922486" cy="2316163"/>
          </a:xfrm>
        </p:spPr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19626F-48B3-0366-FF54-891D9160F7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467" y="1422399"/>
            <a:ext cx="6536327" cy="4492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724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3CDD7-3068-E9C9-C459-72F4A70F9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 – Feedback (</a:t>
            </a:r>
            <a:r>
              <a:rPr lang="en-US" dirty="0" err="1"/>
              <a:t>zorunlu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CA0485-DFCF-3959-5416-7315F70792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90742" y="5021943"/>
            <a:ext cx="1963057" cy="115502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FA385C-C92B-5C59-EC4D-D67FB088AF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24001"/>
            <a:ext cx="5462756" cy="26970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76E81F-039F-5B79-1D9B-CC14980D1B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826" y="3479799"/>
            <a:ext cx="6090231" cy="32498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F52A4C4-5F17-51D5-E000-EFBE0DE2F3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2057" y="1690688"/>
            <a:ext cx="5110653" cy="2424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0815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AAA65-5575-86AC-8DA5-AEA853CB4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9 – toxicity rating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6793DE-7607-F49F-D3D3-0459ADA1E7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3323771"/>
            <a:ext cx="5257800" cy="2853192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A5D8F22-5905-D44D-0EB6-C6B556CB2D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27727"/>
            <a:ext cx="5861702" cy="2853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716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F4E13-BAB1-5A09-9F79-807E247B0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Scoring Simulation -1</a:t>
            </a:r>
            <a:br>
              <a:rPr lang="en-US" dirty="0"/>
            </a:br>
            <a:r>
              <a:rPr lang="en-US" dirty="0"/>
              <a:t>Equal probs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7904354-A05B-0F1D-3BFC-66CF4B106B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22445164"/>
              </p:ext>
            </p:extLst>
          </p:nvPr>
        </p:nvGraphicFramePr>
        <p:xfrm>
          <a:off x="838201" y="1825625"/>
          <a:ext cx="40386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704">
                  <a:extLst>
                    <a:ext uri="{9D8B030D-6E8A-4147-A177-3AD203B41FA5}">
                      <a16:colId xmlns:a16="http://schemas.microsoft.com/office/drawing/2014/main" val="2021176872"/>
                    </a:ext>
                  </a:extLst>
                </a:gridCol>
                <a:gridCol w="2245896">
                  <a:extLst>
                    <a:ext uri="{9D8B030D-6E8A-4147-A177-3AD203B41FA5}">
                      <a16:colId xmlns:a16="http://schemas.microsoft.com/office/drawing/2014/main" val="2590234584"/>
                    </a:ext>
                  </a:extLst>
                </a:gridCol>
              </a:tblGrid>
              <a:tr h="18764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4898059"/>
                  </a:ext>
                </a:extLst>
              </a:tr>
              <a:tr h="187641">
                <a:tc>
                  <a:txBody>
                    <a:bodyPr/>
                    <a:lstStyle/>
                    <a:p>
                      <a:r>
                        <a:rPr lang="en-US" dirty="0"/>
                        <a:t>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7356800"/>
                  </a:ext>
                </a:extLst>
              </a:tr>
              <a:tr h="187641">
                <a:tc>
                  <a:txBody>
                    <a:bodyPr/>
                    <a:lstStyle/>
                    <a:p>
                      <a:r>
                        <a:rPr lang="en-US" dirty="0"/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1341795"/>
                  </a:ext>
                </a:extLst>
              </a:tr>
              <a:tr h="187641">
                <a:tc>
                  <a:txBody>
                    <a:bodyPr/>
                    <a:lstStyle/>
                    <a:p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2946290"/>
                  </a:ext>
                </a:extLst>
              </a:tr>
              <a:tr h="187641">
                <a:tc>
                  <a:txBody>
                    <a:bodyPr/>
                    <a:lstStyle/>
                    <a:p>
                      <a:r>
                        <a:rPr lang="en-US" dirty="0"/>
                        <a:t>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905187"/>
                  </a:ext>
                </a:extLst>
              </a:tr>
              <a:tr h="187641">
                <a:tc>
                  <a:txBody>
                    <a:bodyPr/>
                    <a:lstStyle/>
                    <a:p>
                      <a:r>
                        <a:rPr lang="en-US" dirty="0"/>
                        <a:t>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9549339"/>
                  </a:ext>
                </a:extLst>
              </a:tr>
              <a:tr h="254054">
                <a:tc>
                  <a:txBody>
                    <a:bodyPr/>
                    <a:lstStyle/>
                    <a:p>
                      <a:r>
                        <a:rPr lang="en-US" dirty="0"/>
                        <a:t>0.5 – median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8619162"/>
                  </a:ext>
                </a:extLst>
              </a:tr>
              <a:tr h="187641">
                <a:tc>
                  <a:txBody>
                    <a:bodyPr/>
                    <a:lstStyle/>
                    <a:p>
                      <a:r>
                        <a:rPr lang="en-US" dirty="0"/>
                        <a:t>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491048"/>
                  </a:ext>
                </a:extLst>
              </a:tr>
              <a:tr h="187641">
                <a:tc>
                  <a:txBody>
                    <a:bodyPr/>
                    <a:lstStyle/>
                    <a:p>
                      <a:r>
                        <a:rPr lang="en-US" dirty="0"/>
                        <a:t>0.75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4484645"/>
                  </a:ext>
                </a:extLst>
              </a:tr>
              <a:tr h="187641">
                <a:tc>
                  <a:txBody>
                    <a:bodyPr/>
                    <a:lstStyle/>
                    <a:p>
                      <a:r>
                        <a:rPr lang="en-US" dirty="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7220103"/>
                  </a:ext>
                </a:extLst>
              </a:tr>
              <a:tr h="187641">
                <a:tc>
                  <a:txBody>
                    <a:bodyPr/>
                    <a:lstStyle/>
                    <a:p>
                      <a:r>
                        <a:rPr lang="en-US" dirty="0"/>
                        <a:t>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4081745"/>
                  </a:ext>
                </a:extLst>
              </a:tr>
              <a:tr h="187641">
                <a:tc>
                  <a:txBody>
                    <a:bodyPr/>
                    <a:lstStyle/>
                    <a:p>
                      <a:r>
                        <a:rPr lang="en-US" dirty="0"/>
                        <a:t>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428633"/>
                  </a:ext>
                </a:extLst>
              </a:tr>
              <a:tr h="187641">
                <a:tc>
                  <a:txBody>
                    <a:bodyPr/>
                    <a:lstStyle/>
                    <a:p>
                      <a:r>
                        <a:rPr lang="en-US" dirty="0"/>
                        <a:t>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115160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07027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CD34086F-8521-3EC8-4042-A99E88EC3D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212340"/>
            <a:ext cx="5524500" cy="3981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4367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8C25A-F5EF-972E-D6AA-A8FFCBD04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Scoring simulation -2</a:t>
            </a:r>
            <a:br>
              <a:rPr lang="en-US" dirty="0"/>
            </a:br>
            <a:r>
              <a:rPr lang="en-US" dirty="0"/>
              <a:t>Applicability %95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433BC43-88B8-67DA-FE96-DCD6915787D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33911870"/>
              </p:ext>
            </p:extLst>
          </p:nvPr>
        </p:nvGraphicFramePr>
        <p:xfrm>
          <a:off x="838201" y="1825625"/>
          <a:ext cx="40386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704">
                  <a:extLst>
                    <a:ext uri="{9D8B030D-6E8A-4147-A177-3AD203B41FA5}">
                      <a16:colId xmlns:a16="http://schemas.microsoft.com/office/drawing/2014/main" val="2021176872"/>
                    </a:ext>
                  </a:extLst>
                </a:gridCol>
                <a:gridCol w="2245896">
                  <a:extLst>
                    <a:ext uri="{9D8B030D-6E8A-4147-A177-3AD203B41FA5}">
                      <a16:colId xmlns:a16="http://schemas.microsoft.com/office/drawing/2014/main" val="2590234584"/>
                    </a:ext>
                  </a:extLst>
                </a:gridCol>
              </a:tblGrid>
              <a:tr h="18764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4898059"/>
                  </a:ext>
                </a:extLst>
              </a:tr>
              <a:tr h="187641">
                <a:tc>
                  <a:txBody>
                    <a:bodyPr/>
                    <a:lstStyle/>
                    <a:p>
                      <a:r>
                        <a:rPr lang="en-US" dirty="0"/>
                        <a:t>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7356800"/>
                  </a:ext>
                </a:extLst>
              </a:tr>
              <a:tr h="187641">
                <a:tc>
                  <a:txBody>
                    <a:bodyPr/>
                    <a:lstStyle/>
                    <a:p>
                      <a:r>
                        <a:rPr lang="en-US" dirty="0"/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1341795"/>
                  </a:ext>
                </a:extLst>
              </a:tr>
              <a:tr h="187641">
                <a:tc>
                  <a:txBody>
                    <a:bodyPr/>
                    <a:lstStyle/>
                    <a:p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2946290"/>
                  </a:ext>
                </a:extLst>
              </a:tr>
              <a:tr h="187641">
                <a:tc>
                  <a:txBody>
                    <a:bodyPr/>
                    <a:lstStyle/>
                    <a:p>
                      <a:r>
                        <a:rPr lang="en-US" dirty="0"/>
                        <a:t>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905187"/>
                  </a:ext>
                </a:extLst>
              </a:tr>
              <a:tr h="187641">
                <a:tc>
                  <a:txBody>
                    <a:bodyPr/>
                    <a:lstStyle/>
                    <a:p>
                      <a:r>
                        <a:rPr lang="en-US" dirty="0"/>
                        <a:t>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9549339"/>
                  </a:ext>
                </a:extLst>
              </a:tr>
              <a:tr h="254054">
                <a:tc>
                  <a:txBody>
                    <a:bodyPr/>
                    <a:lstStyle/>
                    <a:p>
                      <a:r>
                        <a:rPr lang="en-US" dirty="0"/>
                        <a:t>0.5 – median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8619162"/>
                  </a:ext>
                </a:extLst>
              </a:tr>
              <a:tr h="187641">
                <a:tc>
                  <a:txBody>
                    <a:bodyPr/>
                    <a:lstStyle/>
                    <a:p>
                      <a:r>
                        <a:rPr lang="en-US" dirty="0"/>
                        <a:t>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491048"/>
                  </a:ext>
                </a:extLst>
              </a:tr>
              <a:tr h="187641">
                <a:tc>
                  <a:txBody>
                    <a:bodyPr/>
                    <a:lstStyle/>
                    <a:p>
                      <a:r>
                        <a:rPr lang="en-US" dirty="0"/>
                        <a:t>0.75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4484645"/>
                  </a:ext>
                </a:extLst>
              </a:tr>
              <a:tr h="187641">
                <a:tc>
                  <a:txBody>
                    <a:bodyPr/>
                    <a:lstStyle/>
                    <a:p>
                      <a:r>
                        <a:rPr lang="en-US" dirty="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7220103"/>
                  </a:ext>
                </a:extLst>
              </a:tr>
              <a:tr h="187641">
                <a:tc>
                  <a:txBody>
                    <a:bodyPr/>
                    <a:lstStyle/>
                    <a:p>
                      <a:r>
                        <a:rPr lang="en-US" dirty="0"/>
                        <a:t>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4081745"/>
                  </a:ext>
                </a:extLst>
              </a:tr>
              <a:tr h="187641">
                <a:tc>
                  <a:txBody>
                    <a:bodyPr/>
                    <a:lstStyle/>
                    <a:p>
                      <a:r>
                        <a:rPr lang="en-US" dirty="0"/>
                        <a:t>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428633"/>
                  </a:ext>
                </a:extLst>
              </a:tr>
              <a:tr h="187641">
                <a:tc>
                  <a:txBody>
                    <a:bodyPr/>
                    <a:lstStyle/>
                    <a:p>
                      <a:r>
                        <a:rPr lang="en-US" dirty="0"/>
                        <a:t>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07027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EAFE5969-89B3-7CBB-9283-A7A6965093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039603"/>
            <a:ext cx="5524500" cy="3933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0558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08122-A545-DA35-464B-7B62C326A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Scoring simulation -3</a:t>
            </a:r>
            <a:br>
              <a:rPr lang="en-US" dirty="0"/>
            </a:br>
            <a:r>
              <a:rPr lang="en-US" dirty="0"/>
              <a:t>applicability %95 + normal </a:t>
            </a:r>
            <a:r>
              <a:rPr lang="en-US" dirty="0" err="1"/>
              <a:t>distn</a:t>
            </a:r>
            <a:br>
              <a:rPr lang="en-US" dirty="0"/>
            </a:br>
            <a:r>
              <a:rPr lang="en-US" sz="3100" dirty="0"/>
              <a:t>(mu, sigma = 0.5, 0.2)</a:t>
            </a:r>
            <a:endParaRPr lang="en-US" dirty="0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21C957E9-5BFD-7119-4F86-B76AE55788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29299" y="1825625"/>
            <a:ext cx="5524500" cy="3933825"/>
          </a:xfrm>
        </p:spPr>
      </p:pic>
      <p:graphicFrame>
        <p:nvGraphicFramePr>
          <p:cNvPr id="11" name="Content Placeholder 3">
            <a:extLst>
              <a:ext uri="{FF2B5EF4-FFF2-40B4-BE49-F238E27FC236}">
                <a16:creationId xmlns:a16="http://schemas.microsoft.com/office/drawing/2014/main" id="{6FAFE025-8522-004A-5A08-3650CD73FCA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39804234"/>
              </p:ext>
            </p:extLst>
          </p:nvPr>
        </p:nvGraphicFramePr>
        <p:xfrm>
          <a:off x="838201" y="1825625"/>
          <a:ext cx="40386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704">
                  <a:extLst>
                    <a:ext uri="{9D8B030D-6E8A-4147-A177-3AD203B41FA5}">
                      <a16:colId xmlns:a16="http://schemas.microsoft.com/office/drawing/2014/main" val="2021176872"/>
                    </a:ext>
                  </a:extLst>
                </a:gridCol>
                <a:gridCol w="2245896">
                  <a:extLst>
                    <a:ext uri="{9D8B030D-6E8A-4147-A177-3AD203B41FA5}">
                      <a16:colId xmlns:a16="http://schemas.microsoft.com/office/drawing/2014/main" val="2590234584"/>
                    </a:ext>
                  </a:extLst>
                </a:gridCol>
              </a:tblGrid>
              <a:tr h="18764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4898059"/>
                  </a:ext>
                </a:extLst>
              </a:tr>
              <a:tr h="187641">
                <a:tc>
                  <a:txBody>
                    <a:bodyPr/>
                    <a:lstStyle/>
                    <a:p>
                      <a:r>
                        <a:rPr lang="en-US" dirty="0"/>
                        <a:t>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7356800"/>
                  </a:ext>
                </a:extLst>
              </a:tr>
              <a:tr h="187641">
                <a:tc>
                  <a:txBody>
                    <a:bodyPr/>
                    <a:lstStyle/>
                    <a:p>
                      <a:r>
                        <a:rPr lang="en-US" dirty="0"/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1341795"/>
                  </a:ext>
                </a:extLst>
              </a:tr>
              <a:tr h="187641">
                <a:tc>
                  <a:txBody>
                    <a:bodyPr/>
                    <a:lstStyle/>
                    <a:p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2946290"/>
                  </a:ext>
                </a:extLst>
              </a:tr>
              <a:tr h="187641">
                <a:tc>
                  <a:txBody>
                    <a:bodyPr/>
                    <a:lstStyle/>
                    <a:p>
                      <a:r>
                        <a:rPr lang="en-US" dirty="0"/>
                        <a:t>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905187"/>
                  </a:ext>
                </a:extLst>
              </a:tr>
              <a:tr h="187641">
                <a:tc>
                  <a:txBody>
                    <a:bodyPr/>
                    <a:lstStyle/>
                    <a:p>
                      <a:r>
                        <a:rPr lang="en-US" dirty="0"/>
                        <a:t>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9549339"/>
                  </a:ext>
                </a:extLst>
              </a:tr>
              <a:tr h="254054">
                <a:tc>
                  <a:txBody>
                    <a:bodyPr/>
                    <a:lstStyle/>
                    <a:p>
                      <a:r>
                        <a:rPr lang="en-US" dirty="0"/>
                        <a:t>0.5 – median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8619162"/>
                  </a:ext>
                </a:extLst>
              </a:tr>
              <a:tr h="187641">
                <a:tc>
                  <a:txBody>
                    <a:bodyPr/>
                    <a:lstStyle/>
                    <a:p>
                      <a:r>
                        <a:rPr lang="en-US" dirty="0"/>
                        <a:t>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491048"/>
                  </a:ext>
                </a:extLst>
              </a:tr>
              <a:tr h="187641">
                <a:tc>
                  <a:txBody>
                    <a:bodyPr/>
                    <a:lstStyle/>
                    <a:p>
                      <a:r>
                        <a:rPr lang="en-US" dirty="0"/>
                        <a:t>0.75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4484645"/>
                  </a:ext>
                </a:extLst>
              </a:tr>
              <a:tr h="187641">
                <a:tc>
                  <a:txBody>
                    <a:bodyPr/>
                    <a:lstStyle/>
                    <a:p>
                      <a:r>
                        <a:rPr lang="en-US" dirty="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7220103"/>
                  </a:ext>
                </a:extLst>
              </a:tr>
              <a:tr h="187641">
                <a:tc>
                  <a:txBody>
                    <a:bodyPr/>
                    <a:lstStyle/>
                    <a:p>
                      <a:r>
                        <a:rPr lang="en-US" dirty="0"/>
                        <a:t>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4081745"/>
                  </a:ext>
                </a:extLst>
              </a:tr>
              <a:tr h="187641">
                <a:tc>
                  <a:txBody>
                    <a:bodyPr/>
                    <a:lstStyle/>
                    <a:p>
                      <a:r>
                        <a:rPr lang="en-US" dirty="0"/>
                        <a:t>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428633"/>
                  </a:ext>
                </a:extLst>
              </a:tr>
              <a:tr h="187641">
                <a:tc>
                  <a:txBody>
                    <a:bodyPr/>
                    <a:lstStyle/>
                    <a:p>
                      <a:r>
                        <a:rPr lang="en-US" dirty="0"/>
                        <a:t>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0702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81596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B237C-72B3-A7B3-2E04-51DFC6D10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9ED7825-F0E8-BE2B-B0AF-D20D3839E57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295744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3204</TotalTime>
  <Words>176</Words>
  <Application>Microsoft Office PowerPoint</Application>
  <PresentationFormat>Widescreen</PresentationFormat>
  <Paragraphs>91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RedFlag Project</vt:lpstr>
      <vt:lpstr>1 – ask language</vt:lpstr>
      <vt:lpstr>2 – user details</vt:lpstr>
      <vt:lpstr>2 – user details</vt:lpstr>
      <vt:lpstr>3- boyfriend name</vt:lpstr>
      <vt:lpstr>4- welcome</vt:lpstr>
      <vt:lpstr>5- Filter Questions</vt:lpstr>
      <vt:lpstr>6- RedFlag Questions</vt:lpstr>
      <vt:lpstr>7- Get to Know Questions</vt:lpstr>
      <vt:lpstr>8 – Feedback (zorunlu)</vt:lpstr>
      <vt:lpstr>9 – toxicity rating </vt:lpstr>
      <vt:lpstr>Scoring Simulation -1 Equal probs</vt:lpstr>
      <vt:lpstr>Scoring simulation -2 Applicability %95</vt:lpstr>
      <vt:lpstr>Scoring simulation -3 applicability %95 + normal distn (mu, sigma = 0.5, 0.2)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pelin yurdadön</dc:creator>
  <cp:lastModifiedBy>pelin yurdadön</cp:lastModifiedBy>
  <cp:revision>3</cp:revision>
  <dcterms:created xsi:type="dcterms:W3CDTF">2025-03-24T17:11:51Z</dcterms:created>
  <dcterms:modified xsi:type="dcterms:W3CDTF">2025-03-27T20:29:24Z</dcterms:modified>
</cp:coreProperties>
</file>